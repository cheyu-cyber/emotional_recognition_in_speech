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9" r:id="rId5"/>
    <p:sldId id="259" r:id="rId6"/>
    <p:sldId id="271" r:id="rId7"/>
    <p:sldId id="260" r:id="rId8"/>
    <p:sldId id="274" r:id="rId9"/>
    <p:sldId id="270" r:id="rId10"/>
    <p:sldId id="275" r:id="rId11"/>
    <p:sldId id="261" r:id="rId12"/>
    <p:sldId id="263" r:id="rId13"/>
    <p:sldId id="272" r:id="rId14"/>
    <p:sldId id="264" r:id="rId15"/>
    <p:sldId id="273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73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9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91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25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41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535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3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67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4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46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274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130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0859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18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012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276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498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9CF0AA7-ABBC-4323-8E4E-C352638C71E8}" type="datetimeFigureOut">
              <a:rPr lang="zh-TW" altLang="en-US" smtClean="0"/>
              <a:t>2019/12/24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7FFE952-E0CF-4344-BADB-3F36688E26B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95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sv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signal/ref/hann.html" TargetMode="External"/><Relationship Id="rId7" Type="http://schemas.openxmlformats.org/officeDocument/2006/relationships/hyperlink" Target="https://zh.wikipedia.org/wiki/" TargetMode="External"/><Relationship Id="rId2" Type="http://schemas.openxmlformats.org/officeDocument/2006/relationships/hyperlink" Target="https://www.mathworks.com/help/signal/ref/spectrogram.html#d117e18785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thworks.com/help/matlab/ref/xcorr.html" TargetMode="External"/><Relationship Id="rId5" Type="http://schemas.openxmlformats.org/officeDocument/2006/relationships/hyperlink" Target="https://www.mathworks.com/help/signal/ref/periodogram.html" TargetMode="External"/><Relationship Id="rId4" Type="http://schemas.openxmlformats.org/officeDocument/2006/relationships/hyperlink" Target="https://en.wikipedia.org/wiki/Window_function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A019AB-4CD6-4D8C-985F-8E573B373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Signal Analysis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678E98-BDE4-494C-8A3C-437172165E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105501016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游澈</a:t>
            </a:r>
          </a:p>
        </p:txBody>
      </p:sp>
    </p:spTree>
    <p:extLst>
      <p:ext uri="{BB962C8B-B14F-4D97-AF65-F5344CB8AC3E}">
        <p14:creationId xmlns:p14="http://schemas.microsoft.com/office/powerpoint/2010/main" val="386739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CDBE8-BDE5-44EB-A349-7CE551FB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流程示意圖</a:t>
            </a:r>
          </a:p>
        </p:txBody>
      </p:sp>
      <p:pic>
        <p:nvPicPr>
          <p:cNvPr id="6" name="內容版面配置區 5" descr="廣播電台麥克風">
            <a:extLst>
              <a:ext uri="{FF2B5EF4-FFF2-40B4-BE49-F238E27FC236}">
                <a16:creationId xmlns:a16="http://schemas.microsoft.com/office/drawing/2014/main" id="{269F4E1D-6872-4FBA-901B-859EB67EE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9680" y="3190869"/>
            <a:ext cx="914400" cy="914400"/>
          </a:xfrm>
        </p:spPr>
      </p:pic>
      <p:sp>
        <p:nvSpPr>
          <p:cNvPr id="4" name="動作按鈕: 聲音 3">
            <a:hlinkClick r:id="" action="ppaction://noaction" highlightClick="1">
              <a:snd r:embed="rId4" name="applause.wav"/>
            </a:hlinkClick>
            <a:extLst>
              <a:ext uri="{FF2B5EF4-FFF2-40B4-BE49-F238E27FC236}">
                <a16:creationId xmlns:a16="http://schemas.microsoft.com/office/drawing/2014/main" id="{E54EC6C8-387D-4088-AB1A-3CBA5DAC4B35}"/>
              </a:ext>
            </a:extLst>
          </p:cNvPr>
          <p:cNvSpPr/>
          <p:nvPr/>
        </p:nvSpPr>
        <p:spPr>
          <a:xfrm>
            <a:off x="1547445" y="3217984"/>
            <a:ext cx="797169" cy="926123"/>
          </a:xfrm>
          <a:prstGeom prst="actionButtonSoun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圖形 7" descr="語音">
            <a:extLst>
              <a:ext uri="{FF2B5EF4-FFF2-40B4-BE49-F238E27FC236}">
                <a16:creationId xmlns:a16="http://schemas.microsoft.com/office/drawing/2014/main" id="{F5986FF1-0801-4DF7-8F24-EC179D71EA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5419" y="3190870"/>
            <a:ext cx="914400" cy="9144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8603256-6913-45D7-9A0A-3DCBAE439B23}"/>
              </a:ext>
            </a:extLst>
          </p:cNvPr>
          <p:cNvSpPr txBox="1"/>
          <p:nvPr/>
        </p:nvSpPr>
        <p:spPr>
          <a:xfrm>
            <a:off x="6904893" y="3313110"/>
            <a:ext cx="1852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/>
              <a:t>Matlab</a:t>
            </a:r>
            <a:r>
              <a:rPr lang="en-US" altLang="zh-TW" sz="2400" dirty="0"/>
              <a:t> Workspace</a:t>
            </a:r>
          </a:p>
        </p:txBody>
      </p:sp>
      <p:pic>
        <p:nvPicPr>
          <p:cNvPr id="12" name="圖形 11" descr="瀏覽器視窗">
            <a:extLst>
              <a:ext uri="{FF2B5EF4-FFF2-40B4-BE49-F238E27FC236}">
                <a16:creationId xmlns:a16="http://schemas.microsoft.com/office/drawing/2014/main" id="{8B915740-9FEC-4E87-A157-818097D2CA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08046" y="2985289"/>
            <a:ext cx="1325563" cy="1325563"/>
          </a:xfrm>
          <a:prstGeom prst="rect">
            <a:avLst/>
          </a:prstGeom>
        </p:spPr>
      </p:pic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F84D5CB6-172A-41DF-80ED-9D28C4FE07EE}"/>
              </a:ext>
            </a:extLst>
          </p:cNvPr>
          <p:cNvSpPr/>
          <p:nvPr/>
        </p:nvSpPr>
        <p:spPr>
          <a:xfrm>
            <a:off x="2593056" y="3499335"/>
            <a:ext cx="656492" cy="363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832D6413-A83D-450D-A5D1-65E5FB68B72C}"/>
              </a:ext>
            </a:extLst>
          </p:cNvPr>
          <p:cNvSpPr/>
          <p:nvPr/>
        </p:nvSpPr>
        <p:spPr>
          <a:xfrm>
            <a:off x="4164406" y="3466361"/>
            <a:ext cx="656492" cy="363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AEE596F9-141E-4F3E-9B7B-99BDCB81F4E8}"/>
              </a:ext>
            </a:extLst>
          </p:cNvPr>
          <p:cNvSpPr/>
          <p:nvPr/>
        </p:nvSpPr>
        <p:spPr>
          <a:xfrm>
            <a:off x="6049110" y="3499336"/>
            <a:ext cx="656492" cy="363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5495C2A7-3BFF-4E1A-B3BD-EE36EF32F1E7}"/>
              </a:ext>
            </a:extLst>
          </p:cNvPr>
          <p:cNvSpPr/>
          <p:nvPr/>
        </p:nvSpPr>
        <p:spPr>
          <a:xfrm>
            <a:off x="8446046" y="3499336"/>
            <a:ext cx="656492" cy="3634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83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47A7CC-1FEA-4D3D-86BD-551F49B41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一、音訊匯入與準備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DE4207-4545-446E-8163-FCCBD3C04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[x, fs] = </a:t>
            </a:r>
            <a:r>
              <a:rPr lang="en-US" altLang="zh-TW" dirty="0" err="1"/>
              <a:t>audioread</a:t>
            </a:r>
            <a:r>
              <a:rPr lang="en-US" altLang="zh-TW" dirty="0"/>
              <a:t>('sunday.wav')</a:t>
            </a:r>
          </a:p>
          <a:p>
            <a:pPr marL="0" indent="0">
              <a:buNone/>
            </a:pPr>
            <a:r>
              <a:rPr lang="en-US" altLang="zh-TW" dirty="0"/>
              <a:t>X = x(:, 1);</a:t>
            </a:r>
          </a:p>
          <a:p>
            <a:pPr marL="0" indent="0">
              <a:buNone/>
            </a:pPr>
            <a:r>
              <a:rPr lang="en-US" altLang="zh-TW" dirty="0"/>
              <a:t>N = length(X);</a:t>
            </a:r>
          </a:p>
          <a:p>
            <a:pPr marL="0" indent="0">
              <a:buNone/>
            </a:pPr>
            <a:r>
              <a:rPr lang="en-US" altLang="zh-TW" dirty="0"/>
              <a:t>t = (0:N-1)/fs;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484733F-DE7D-4E0F-9FC5-3DA846E1C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346" y="2825556"/>
            <a:ext cx="4286848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1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F2E855-5F90-4174-8309-540CF965A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.wav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在時域波形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A31567E-3554-4F87-A406-226FF6D12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9779" y="2557463"/>
            <a:ext cx="6012442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55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4DA4F-8AB5-4448-B0F4-C822D2C6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.wav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在時域波形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FC976C-E5EA-43D9-8769-B2310A148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err="1"/>
              <a:t>xlim</a:t>
            </a:r>
            <a:r>
              <a:rPr lang="en-US" altLang="zh-TW" dirty="0"/>
              <a:t>([0 max(t)])</a:t>
            </a:r>
          </a:p>
          <a:p>
            <a:r>
              <a:rPr lang="en-US" altLang="zh-TW" dirty="0" err="1"/>
              <a:t>ylim</a:t>
            </a:r>
            <a:r>
              <a:rPr lang="en-US" altLang="zh-TW" dirty="0"/>
              <a:t>([-1.1*max(abs(X)) 1.1*max(abs(X))])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圖表設置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grid on</a:t>
            </a:r>
          </a:p>
          <a:p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xlabel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('Time, s')</a:t>
            </a:r>
          </a:p>
          <a:p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ylabel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('Amplitude')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title(‘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時域波形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')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72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A76FB8-884B-4CBA-A2EB-3D7D9419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三、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.wav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頻譜圖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4DA02E55-B102-4440-8859-7C5BCA0E3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6179" y="2557463"/>
            <a:ext cx="5919642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2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0F6792-EEB7-49C0-99D1-E26155D9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三、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.wav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頻譜圖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F3A4F8-7011-4A4B-A835-18DC0B2E1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spectrogram(</a:t>
            </a:r>
            <a:r>
              <a:rPr lang="en-US" altLang="zh-TW" u="sng" dirty="0"/>
              <a:t>X</a:t>
            </a:r>
            <a:r>
              <a:rPr lang="en-US" altLang="zh-TW" dirty="0"/>
              <a:t>, </a:t>
            </a:r>
            <a:r>
              <a:rPr lang="en-US" altLang="zh-TW" u="sng" dirty="0"/>
              <a:t>1024</a:t>
            </a:r>
            <a:r>
              <a:rPr lang="en-US" altLang="zh-TW" dirty="0"/>
              <a:t>, </a:t>
            </a:r>
            <a:r>
              <a:rPr lang="en-US" altLang="zh-TW" u="sng" dirty="0"/>
              <a:t>768</a:t>
            </a:r>
            <a:r>
              <a:rPr lang="en-US" altLang="zh-TW" dirty="0"/>
              <a:t>, </a:t>
            </a:r>
            <a:r>
              <a:rPr lang="en-US" altLang="zh-TW" u="sng" dirty="0"/>
              <a:t>[]</a:t>
            </a:r>
            <a:r>
              <a:rPr lang="en-US" altLang="zh-TW" dirty="0"/>
              <a:t>, </a:t>
            </a:r>
            <a:r>
              <a:rPr lang="en-US" altLang="zh-TW" u="sng" dirty="0"/>
              <a:t>fs</a:t>
            </a:r>
            <a:r>
              <a:rPr lang="en-US" altLang="zh-TW" dirty="0"/>
              <a:t>, </a:t>
            </a:r>
            <a:r>
              <a:rPr lang="en-US" altLang="zh-TW" u="sng" dirty="0"/>
              <a:t>'</a:t>
            </a:r>
            <a:r>
              <a:rPr lang="en-US" altLang="zh-TW" u="sng" dirty="0" err="1"/>
              <a:t>yaxis</a:t>
            </a:r>
            <a:r>
              <a:rPr lang="en-US" altLang="zh-TW" u="sng" dirty="0"/>
              <a:t>'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6" name="圖說文字: 雙折線 5">
            <a:extLst>
              <a:ext uri="{FF2B5EF4-FFF2-40B4-BE49-F238E27FC236}">
                <a16:creationId xmlns:a16="http://schemas.microsoft.com/office/drawing/2014/main" id="{25B54D0F-C284-458C-9075-A7B966A6469E}"/>
              </a:ext>
            </a:extLst>
          </p:cNvPr>
          <p:cNvSpPr/>
          <p:nvPr/>
        </p:nvSpPr>
        <p:spPr>
          <a:xfrm>
            <a:off x="1666472" y="3678126"/>
            <a:ext cx="914400" cy="61264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53081"/>
              <a:gd name="adj6" fmla="val -21795"/>
              <a:gd name="adj7" fmla="val -118572"/>
              <a:gd name="adj8" fmla="val 180128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Signal</a:t>
            </a:r>
            <a:endParaRPr lang="zh-TW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" name="圖說文字: 雙折線 6">
            <a:extLst>
              <a:ext uri="{FF2B5EF4-FFF2-40B4-BE49-F238E27FC236}">
                <a16:creationId xmlns:a16="http://schemas.microsoft.com/office/drawing/2014/main" id="{6A746CF6-CBD1-4E7F-8B74-F3EC57F8B6A0}"/>
              </a:ext>
            </a:extLst>
          </p:cNvPr>
          <p:cNvSpPr/>
          <p:nvPr/>
        </p:nvSpPr>
        <p:spPr>
          <a:xfrm>
            <a:off x="2805406" y="4679032"/>
            <a:ext cx="1094313" cy="819939"/>
          </a:xfrm>
          <a:prstGeom prst="borderCallout3">
            <a:avLst>
              <a:gd name="adj1" fmla="val -385"/>
              <a:gd name="adj2" fmla="val 81411"/>
              <a:gd name="adj3" fmla="val -75012"/>
              <a:gd name="adj4" fmla="val 33333"/>
              <a:gd name="adj5" fmla="val -123881"/>
              <a:gd name="adj6" fmla="val 32051"/>
              <a:gd name="adj7" fmla="val -208130"/>
              <a:gd name="adj8" fmla="val 96795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Sampling(</a:t>
            </a:r>
            <a:r>
              <a:rPr lang="en-US" altLang="zh-TW" dirty="0" err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Hanning</a:t>
            </a:r>
            <a:r>
              <a:rPr lang="en-US" altLang="zh-TW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Window)</a:t>
            </a:r>
            <a:endParaRPr lang="zh-TW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圖說文字: 雙折線 7">
            <a:extLst>
              <a:ext uri="{FF2B5EF4-FFF2-40B4-BE49-F238E27FC236}">
                <a16:creationId xmlns:a16="http://schemas.microsoft.com/office/drawing/2014/main" id="{9A1577BA-4806-4D6D-B848-1F92D5123337}"/>
              </a:ext>
            </a:extLst>
          </p:cNvPr>
          <p:cNvSpPr/>
          <p:nvPr/>
        </p:nvSpPr>
        <p:spPr>
          <a:xfrm>
            <a:off x="4112529" y="3984450"/>
            <a:ext cx="1188097" cy="677738"/>
          </a:xfrm>
          <a:prstGeom prst="borderCallout3">
            <a:avLst>
              <a:gd name="adj1" fmla="val 1345"/>
              <a:gd name="adj2" fmla="val 34049"/>
              <a:gd name="adj3" fmla="val -54255"/>
              <a:gd name="adj4" fmla="val 9652"/>
              <a:gd name="adj5" fmla="val -108313"/>
              <a:gd name="adj6" fmla="val 10343"/>
              <a:gd name="adj7" fmla="val -153997"/>
              <a:gd name="adj8" fmla="val 35619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Overlap</a:t>
            </a:r>
            <a:endParaRPr lang="zh-TW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" name="圖說文字: 雙折線 8">
            <a:extLst>
              <a:ext uri="{FF2B5EF4-FFF2-40B4-BE49-F238E27FC236}">
                <a16:creationId xmlns:a16="http://schemas.microsoft.com/office/drawing/2014/main" id="{B3E3A11D-686F-42FC-8011-B12D6861742D}"/>
              </a:ext>
            </a:extLst>
          </p:cNvPr>
          <p:cNvSpPr/>
          <p:nvPr/>
        </p:nvSpPr>
        <p:spPr>
          <a:xfrm>
            <a:off x="6007128" y="5017901"/>
            <a:ext cx="1188097" cy="677738"/>
          </a:xfrm>
          <a:prstGeom prst="borderCallout3">
            <a:avLst>
              <a:gd name="adj1" fmla="val -5574"/>
              <a:gd name="adj2" fmla="val 41943"/>
              <a:gd name="adj3" fmla="val -94039"/>
              <a:gd name="adj4" fmla="val 53067"/>
              <a:gd name="adj5" fmla="val -158476"/>
              <a:gd name="adj6" fmla="val -36033"/>
              <a:gd name="adj7" fmla="val -302754"/>
              <a:gd name="adj8" fmla="val -9068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DFT points</a:t>
            </a:r>
            <a:endParaRPr lang="zh-TW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圖說文字: 雙折線 9">
            <a:extLst>
              <a:ext uri="{FF2B5EF4-FFF2-40B4-BE49-F238E27FC236}">
                <a16:creationId xmlns:a16="http://schemas.microsoft.com/office/drawing/2014/main" id="{06771740-C7D3-4706-8082-4FC40BB62676}"/>
              </a:ext>
            </a:extLst>
          </p:cNvPr>
          <p:cNvSpPr/>
          <p:nvPr/>
        </p:nvSpPr>
        <p:spPr>
          <a:xfrm>
            <a:off x="7799199" y="4206201"/>
            <a:ext cx="1188097" cy="677738"/>
          </a:xfrm>
          <a:prstGeom prst="borderCallout3">
            <a:avLst>
              <a:gd name="adj1" fmla="val -5574"/>
              <a:gd name="adj2" fmla="val 41943"/>
              <a:gd name="adj3" fmla="val -94039"/>
              <a:gd name="adj4" fmla="val 23466"/>
              <a:gd name="adj5" fmla="val -47772"/>
              <a:gd name="adj6" fmla="val -88328"/>
              <a:gd name="adj7" fmla="val -183402"/>
              <a:gd name="adj8" fmla="val -211058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Sampling Frequency</a:t>
            </a:r>
            <a:endParaRPr lang="zh-TW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59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0F6792-EEB7-49C0-99D1-E26155D9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四、漢寧窗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F3A4F8-7011-4A4B-A835-18DC0B2E1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761807"/>
          </a:xfrm>
        </p:spPr>
        <p:txBody>
          <a:bodyPr>
            <a:normAutofit lnSpcReduction="10000"/>
          </a:bodyPr>
          <a:lstStyle/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endParaRPr lang="en-US" altLang="zh-TW" sz="1200" dirty="0"/>
          </a:p>
          <a:p>
            <a:pPr algn="r"/>
            <a:endParaRPr lang="en-US" altLang="zh-TW" sz="1200" dirty="0"/>
          </a:p>
          <a:p>
            <a:pPr marL="0" indent="0" algn="r">
              <a:buNone/>
            </a:pPr>
            <a:r>
              <a:rPr lang="en-US" altLang="zh-TW" sz="1200" dirty="0"/>
              <a:t>Pictures are from National Instrument</a:t>
            </a:r>
          </a:p>
          <a:p>
            <a:pPr marL="0" indent="0" algn="r">
              <a:buNone/>
            </a:pPr>
            <a:endParaRPr lang="en-US" altLang="zh-TW" sz="1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EAE9929-82D0-4F27-9B26-F4C706C9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936" y="2556932"/>
            <a:ext cx="3414219" cy="331893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E553076-6ECF-4FD9-AE69-8AEB83D87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289" y="2556932"/>
            <a:ext cx="5312775" cy="33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924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0F6792-EEB7-49C0-99D1-E26155D9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四、漢寧窗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7F3A4F8-7011-4A4B-A835-18DC0B2E11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取漢寧窗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hann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(N, 'periodic');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W</m:t>
                      </m:r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US" altLang="zh-TW">
                          <a:latin typeface="Cambria Math" panose="02040503050406030204" pitchFamily="18" charset="0"/>
                        </a:rPr>
                        <m:t>=0.5</m:t>
                      </m:r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latin typeface="Cambria Math" panose="02040503050406030204" pitchFamily="18" charset="0"/>
                                        </a:rPr>
                                        <m:t>πn</m:t>
                                      </m:r>
                                    </m:num>
                                    <m:den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 0≤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7F3A4F8-7011-4A4B-A835-18DC0B2E1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9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15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7D12C-DBB9-4382-B60F-A3504B8A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四、強度對頻率圖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4C9C117-B669-41BC-BACF-6CFBB0BBC4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[</a:t>
                </a:r>
                <a:r>
                  <a:rPr lang="en-US" altLang="zh-TW" u="sng" dirty="0"/>
                  <a:t>Xx</a:t>
                </a:r>
                <a:r>
                  <a:rPr lang="en-US" altLang="zh-TW" dirty="0"/>
                  <a:t>, </a:t>
                </a:r>
                <a:r>
                  <a:rPr lang="en-US" altLang="zh-TW" u="sng" dirty="0"/>
                  <a:t>f</a:t>
                </a:r>
                <a:r>
                  <a:rPr lang="en-US" altLang="zh-TW" dirty="0"/>
                  <a:t>] = periodogram(</a:t>
                </a:r>
                <a:r>
                  <a:rPr lang="en-US" altLang="zh-TW" u="sng" dirty="0"/>
                  <a:t>X</a:t>
                </a:r>
                <a:r>
                  <a:rPr lang="en-US" altLang="zh-TW" dirty="0"/>
                  <a:t>, </a:t>
                </a:r>
                <a:r>
                  <a:rPr lang="en-US" altLang="zh-TW" u="sng" dirty="0"/>
                  <a:t>w</a:t>
                </a:r>
                <a:r>
                  <a:rPr lang="en-US" altLang="zh-TW" dirty="0"/>
                  <a:t>, </a:t>
                </a:r>
                <a:r>
                  <a:rPr lang="en-US" altLang="zh-TW" u="sng" dirty="0"/>
                  <a:t>N</a:t>
                </a:r>
                <a:r>
                  <a:rPr lang="en-US" altLang="zh-TW" dirty="0"/>
                  <a:t>, </a:t>
                </a:r>
                <a:r>
                  <a:rPr lang="en-US" altLang="zh-TW" u="sng" dirty="0"/>
                  <a:t>fs</a:t>
                </a:r>
                <a:r>
                  <a:rPr lang="en-US" altLang="zh-TW" dirty="0"/>
                  <a:t>, 'power’);</a:t>
                </a:r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Xx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𝑋𝑥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TW" altLang="zh-TW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func>
                  </m:oMath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4C9C117-B669-41BC-BACF-6CFBB0BBC4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9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圖說文字: 雙折線 3">
            <a:extLst>
              <a:ext uri="{FF2B5EF4-FFF2-40B4-BE49-F238E27FC236}">
                <a16:creationId xmlns:a16="http://schemas.microsoft.com/office/drawing/2014/main" id="{2E8124DD-7228-4B5A-AA6E-7F97961CEC39}"/>
              </a:ext>
            </a:extLst>
          </p:cNvPr>
          <p:cNvSpPr/>
          <p:nvPr/>
        </p:nvSpPr>
        <p:spPr>
          <a:xfrm>
            <a:off x="1459523" y="3807078"/>
            <a:ext cx="1142999" cy="366335"/>
          </a:xfrm>
          <a:prstGeom prst="borderCallout3">
            <a:avLst>
              <a:gd name="adj1" fmla="val 1528"/>
              <a:gd name="adj2" fmla="val 26282"/>
              <a:gd name="adj3" fmla="val -40569"/>
              <a:gd name="adj4" fmla="val 29487"/>
              <a:gd name="adj5" fmla="val -58822"/>
              <a:gd name="adj6" fmla="val 30769"/>
              <a:gd name="adj7" fmla="val -232423"/>
              <a:gd name="adj8" fmla="val 37051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Amplitude</a:t>
            </a:r>
            <a:endParaRPr lang="zh-TW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" name="圖說文字: 雙折線 4">
            <a:extLst>
              <a:ext uri="{FF2B5EF4-FFF2-40B4-BE49-F238E27FC236}">
                <a16:creationId xmlns:a16="http://schemas.microsoft.com/office/drawing/2014/main" id="{187477FB-4DAE-456F-B868-BE3321A226D8}"/>
              </a:ext>
            </a:extLst>
          </p:cNvPr>
          <p:cNvSpPr/>
          <p:nvPr/>
        </p:nvSpPr>
        <p:spPr>
          <a:xfrm>
            <a:off x="3241430" y="3807079"/>
            <a:ext cx="1142999" cy="366335"/>
          </a:xfrm>
          <a:prstGeom prst="borderCallout3">
            <a:avLst>
              <a:gd name="adj1" fmla="val 1528"/>
              <a:gd name="adj2" fmla="val 26282"/>
              <a:gd name="adj3" fmla="val -40569"/>
              <a:gd name="adj4" fmla="val 29487"/>
              <a:gd name="adj5" fmla="val -148425"/>
              <a:gd name="adj6" fmla="val -7180"/>
              <a:gd name="adj7" fmla="val -229223"/>
              <a:gd name="adj8" fmla="val -81923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frequency</a:t>
            </a:r>
            <a:endParaRPr lang="zh-TW" alt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98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7D12C-DBB9-4382-B60F-A3504B8A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四、強度對頻率圖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631EEDB-FC82-4EDD-B5C1-E1BBA0192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799" y="2557463"/>
            <a:ext cx="5982401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88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F1A16-0E8D-4851-B84A-744E032D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五、電壓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Histogram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ECDD56-DABB-4A62-BEBA-DBEBA188F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histogram(X)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E2871E8-32DE-42BC-B464-08B3A5F07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493" y="2556932"/>
            <a:ext cx="6353907" cy="354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183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F1A16-0E8D-4851-B84A-744E032D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六、強度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Histogram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ECDD56-DABB-4A62-BEBA-DBEBA188F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histogram(Xx)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ED9A4F7-C783-41C1-8D23-B11D91FB2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5859" y="2556932"/>
            <a:ext cx="6430110" cy="360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29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0B9A65-1710-43D3-BCF7-178621EF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七、自相關函數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8674FCD1-BDED-42C6-9565-9847EA9EB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6429" y="2590800"/>
            <a:ext cx="6219141" cy="34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38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F1A16-0E8D-4851-B84A-744E032D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七、自相關函數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ECDD56-DABB-4A62-BEBA-DBEBA188F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[R, lags] = </a:t>
            </a:r>
            <a:r>
              <a:rPr lang="en-US" altLang="zh-TW" dirty="0" err="1"/>
              <a:t>xcorr</a:t>
            </a:r>
            <a:r>
              <a:rPr lang="en-US" altLang="zh-TW" dirty="0"/>
              <a:t>(X, </a:t>
            </a:r>
            <a:r>
              <a:rPr lang="en-US" altLang="zh-TW" u="sng" dirty="0"/>
              <a:t>'</a:t>
            </a:r>
            <a:r>
              <a:rPr lang="en-US" altLang="zh-TW" u="sng" dirty="0" err="1"/>
              <a:t>coeff</a:t>
            </a:r>
            <a:r>
              <a:rPr lang="en-US" altLang="zh-TW" u="sng" dirty="0"/>
              <a:t>’</a:t>
            </a:r>
            <a:r>
              <a:rPr lang="en-US" altLang="zh-TW" dirty="0"/>
              <a:t>);</a:t>
            </a:r>
            <a:r>
              <a:rPr lang="zh-TW" altLang="zh-TW" dirty="0"/>
              <a:t> 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err="1"/>
              <a:t>tc</a:t>
            </a:r>
            <a:r>
              <a:rPr lang="en-US" altLang="zh-TW" dirty="0"/>
              <a:t> = lags/fs;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圖說文字: 雙折線 3">
                <a:extLst>
                  <a:ext uri="{FF2B5EF4-FFF2-40B4-BE49-F238E27FC236}">
                    <a16:creationId xmlns:a16="http://schemas.microsoft.com/office/drawing/2014/main" id="{DDB29ED0-E3E9-44E8-A7A0-CBB9AB4BF5EA}"/>
                  </a:ext>
                </a:extLst>
              </p:cNvPr>
              <p:cNvSpPr/>
              <p:nvPr/>
            </p:nvSpPr>
            <p:spPr>
              <a:xfrm>
                <a:off x="5650523" y="3810000"/>
                <a:ext cx="2954215" cy="1796057"/>
              </a:xfrm>
              <a:prstGeom prst="borderCallout3">
                <a:avLst>
                  <a:gd name="adj1" fmla="val 1528"/>
                  <a:gd name="adj2" fmla="val 26282"/>
                  <a:gd name="adj3" fmla="val -26862"/>
                  <a:gd name="adj4" fmla="val 10043"/>
                  <a:gd name="adj5" fmla="val -41380"/>
                  <a:gd name="adj6" fmla="val -19482"/>
                  <a:gd name="adj7" fmla="val -47117"/>
                  <a:gd name="adj8" fmla="val -39859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𝑐𝑜𝑒𝑓𝑓</m:t>
                          </m:r>
                        </m:sub>
                      </m:sSub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4" name="圖說文字: 雙折線 3">
                <a:extLst>
                  <a:ext uri="{FF2B5EF4-FFF2-40B4-BE49-F238E27FC236}">
                    <a16:creationId xmlns:a16="http://schemas.microsoft.com/office/drawing/2014/main" id="{DDB29ED0-E3E9-44E8-A7A0-CBB9AB4BF5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523" y="3810000"/>
                <a:ext cx="2954215" cy="1796057"/>
              </a:xfrm>
              <a:prstGeom prst="borderCallout3">
                <a:avLst>
                  <a:gd name="adj1" fmla="val 1528"/>
                  <a:gd name="adj2" fmla="val 26282"/>
                  <a:gd name="adj3" fmla="val -26862"/>
                  <a:gd name="adj4" fmla="val 10043"/>
                  <a:gd name="adj5" fmla="val -41380"/>
                  <a:gd name="adj6" fmla="val -19482"/>
                  <a:gd name="adj7" fmla="val -47117"/>
                  <a:gd name="adj8" fmla="val -39859"/>
                </a:avLst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圖說文字: 雙折線 4">
                <a:extLst>
                  <a:ext uri="{FF2B5EF4-FFF2-40B4-BE49-F238E27FC236}">
                    <a16:creationId xmlns:a16="http://schemas.microsoft.com/office/drawing/2014/main" id="{114944A7-74DB-4A0A-8B24-61B5A8C86FDB}"/>
                  </a:ext>
                </a:extLst>
              </p:cNvPr>
              <p:cNvSpPr/>
              <p:nvPr/>
            </p:nvSpPr>
            <p:spPr>
              <a:xfrm>
                <a:off x="2303587" y="3487615"/>
                <a:ext cx="1705705" cy="767862"/>
              </a:xfrm>
              <a:prstGeom prst="borderCallout3">
                <a:avLst>
                  <a:gd name="adj1" fmla="val 3055"/>
                  <a:gd name="adj2" fmla="val 43464"/>
                  <a:gd name="adj3" fmla="val -5964"/>
                  <a:gd name="adj4" fmla="val 36718"/>
                  <a:gd name="adj5" fmla="val -28304"/>
                  <a:gd name="adj6" fmla="val 23468"/>
                  <a:gd name="adj7" fmla="val -56930"/>
                  <a:gd name="adj8" fmla="val 3115"/>
                </a:avLst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𝑙𝑎𝑔𝑠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]=±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5" name="圖說文字: 雙折線 4">
                <a:extLst>
                  <a:ext uri="{FF2B5EF4-FFF2-40B4-BE49-F238E27FC236}">
                    <a16:creationId xmlns:a16="http://schemas.microsoft.com/office/drawing/2014/main" id="{114944A7-74DB-4A0A-8B24-61B5A8C86F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587" y="3487615"/>
                <a:ext cx="1705705" cy="767862"/>
              </a:xfrm>
              <a:prstGeom prst="borderCallout3">
                <a:avLst>
                  <a:gd name="adj1" fmla="val 3055"/>
                  <a:gd name="adj2" fmla="val 43464"/>
                  <a:gd name="adj3" fmla="val -5964"/>
                  <a:gd name="adj4" fmla="val 36718"/>
                  <a:gd name="adj5" fmla="val -28304"/>
                  <a:gd name="adj6" fmla="val 23468"/>
                  <a:gd name="adj7" fmla="val -56930"/>
                  <a:gd name="adj8" fmla="val 3115"/>
                </a:avLst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53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A48443-876C-4DD5-B5D2-08A3A31F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八、其餘的一些分析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015542B-F37A-4BAB-9CC0-604C388A0A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514350" indent="-514350">
                  <a:buFont typeface="+mj-lt"/>
                  <a:buAutoNum type="alphaUcPeriod"/>
                </a:pPr>
                <a:r>
                  <a:rPr lang="en-US" altLang="zh-TW" dirty="0"/>
                  <a:t>Max value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pPr marL="514350" indent="-514350">
                  <a:buFont typeface="+mj-lt"/>
                  <a:buAutoNum type="alphaUcPeriod"/>
                </a:pPr>
                <a:r>
                  <a:rPr lang="en-US" altLang="zh-TW" dirty="0"/>
                  <a:t>Min value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pPr marL="514350" indent="-514350">
                  <a:buFont typeface="+mj-lt"/>
                  <a:buAutoNum type="alphaUcPeriod"/>
                </a:pPr>
                <a:r>
                  <a:rPr lang="en-US" altLang="zh-TW" dirty="0"/>
                  <a:t>Mean value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TW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pPr marL="514350" indent="-514350">
                  <a:buFont typeface="+mj-lt"/>
                  <a:buAutoNum type="alphaUcPeriod"/>
                </a:pPr>
                <a:r>
                  <a:rPr lang="en-US" altLang="zh-TW" dirty="0"/>
                  <a:t>RMS value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zh-TW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zh-TW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num>
                          <m:den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</m:oMath>
                </a14:m>
                <a:endParaRPr lang="en-US" altLang="zh-TW" dirty="0"/>
              </a:p>
              <a:p>
                <a:pPr marL="514350" indent="-514350">
                  <a:buFont typeface="+mj-lt"/>
                  <a:buAutoNum type="alphaUcPeriod"/>
                </a:pPr>
                <a:r>
                  <a:rPr lang="en-US" altLang="zh-TW" dirty="0"/>
                  <a:t>Dynamic range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20</m:t>
                        </m:r>
                        <m:func>
                          <m:func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zh-TW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zh-TW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(|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altLang="zh-TW" dirty="0"/>
              </a:p>
              <a:p>
                <a:pPr marL="514350" indent="-514350">
                  <a:buFont typeface="+mj-lt"/>
                  <a:buAutoNum type="alphaUcPeriod"/>
                </a:pPr>
                <a:r>
                  <a:rPr lang="en-US" altLang="zh-TW" dirty="0"/>
                  <a:t>Crest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𝑟𝑚𝑠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dirty="0"/>
              </a:p>
              <a:p>
                <a:pPr marL="514350" indent="-514350">
                  <a:buFont typeface="+mj-lt"/>
                  <a:buAutoNum type="alphaUcPeriod"/>
                </a:pPr>
                <a:r>
                  <a:rPr lang="en-US" altLang="zh-TW" dirty="0"/>
                  <a:t>Autocorrelation time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015542B-F37A-4BAB-9CC0-604C388A0A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6" t="-3119" b="-2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39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6B9A30-B467-4A94-AFBD-355C7F7B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九、參考文獻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84B014-9023-4B42-A4FD-8A94212A9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>
                <a:hlinkClick r:id="rId2"/>
              </a:rPr>
              <a:t>https://www.mathworks.com/help/signal/ref/spectrogram.html#d117e187856</a:t>
            </a:r>
            <a:endParaRPr lang="en-US" altLang="zh-TW" dirty="0">
              <a:hlinkClick r:id="rId3"/>
            </a:endParaRPr>
          </a:p>
          <a:p>
            <a:r>
              <a:rPr lang="en-US" altLang="zh-TW" dirty="0">
                <a:hlinkClick r:id="rId3"/>
              </a:rPr>
              <a:t>https://www.mathworks.com/help/signal/ref/hann.html</a:t>
            </a:r>
            <a:endParaRPr lang="en-US" altLang="zh-TW" dirty="0"/>
          </a:p>
          <a:p>
            <a:r>
              <a:rPr lang="en-US" altLang="zh-TW" dirty="0">
                <a:hlinkClick r:id="rId4"/>
              </a:rPr>
              <a:t>https://en.wikipedia.org/wiki/Window_function</a:t>
            </a:r>
            <a:endParaRPr lang="en-US" altLang="zh-TW" dirty="0"/>
          </a:p>
          <a:p>
            <a:r>
              <a:rPr lang="en-US" altLang="zh-TW" dirty="0">
                <a:hlinkClick r:id="rId5"/>
              </a:rPr>
              <a:t>https://www.mathworks.com/help/signal/ref/periodogram.html</a:t>
            </a:r>
            <a:endParaRPr lang="en-US" altLang="zh-TW" dirty="0">
              <a:hlinkClick r:id="rId6"/>
            </a:endParaRPr>
          </a:p>
          <a:p>
            <a:r>
              <a:rPr lang="en-US" altLang="zh-TW" dirty="0">
                <a:hlinkClick r:id="rId6"/>
              </a:rPr>
              <a:t>https://www.mathworks.com/help/matlab/ref/xcorr.html</a:t>
            </a:r>
            <a:endParaRPr lang="en-US" altLang="zh-TW" dirty="0"/>
          </a:p>
          <a:p>
            <a:r>
              <a:rPr lang="en-US" altLang="zh-TW" dirty="0"/>
              <a:t>https://zh.wikipedia.org/wiki/</a:t>
            </a:r>
            <a:r>
              <a:rPr lang="zh-TW" altLang="en-US" dirty="0"/>
              <a:t>自相關函數</a:t>
            </a:r>
            <a:endParaRPr lang="en-US" altLang="zh-TW" dirty="0"/>
          </a:p>
          <a:p>
            <a:r>
              <a:rPr lang="en-US" altLang="zh-TW" dirty="0">
                <a:hlinkClick r:id="rId7"/>
              </a:rPr>
              <a:t>https://zh.wikipedia.org/wiki/</a:t>
            </a:r>
            <a:r>
              <a:rPr lang="zh-TW" altLang="en-US" dirty="0"/>
              <a:t>峰質因數</a:t>
            </a:r>
            <a:endParaRPr lang="en-US" altLang="zh-TW" dirty="0"/>
          </a:p>
          <a:p>
            <a:r>
              <a:rPr lang="en-US" altLang="zh-TW" dirty="0"/>
              <a:t>Understanding FFTs and Windowing. Published by National Instrument.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88273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4B35DE-9E0C-4037-8042-EEA3CAC4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AE460-55C7-4430-99D2-56ABF9DDB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374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6C130C-E789-466B-BBC3-F5BAD85D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F12EE-DC8D-4A4A-AB1E-92D9FA241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98197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25088</TotalTime>
  <Words>417</Words>
  <Application>Microsoft Office PowerPoint</Application>
  <PresentationFormat>寬螢幕</PresentationFormat>
  <Paragraphs>84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7" baseType="lpstr">
      <vt:lpstr>微軟正黑體</vt:lpstr>
      <vt:lpstr>新細明體</vt:lpstr>
      <vt:lpstr>標楷體</vt:lpstr>
      <vt:lpstr>Arial</vt:lpstr>
      <vt:lpstr>Cambria Math</vt:lpstr>
      <vt:lpstr>Garamond</vt:lpstr>
      <vt:lpstr>Times New Roman</vt:lpstr>
      <vt:lpstr>有機</vt:lpstr>
      <vt:lpstr>Audio Signal Analysis</vt:lpstr>
      <vt:lpstr>流程示意圖</vt:lpstr>
      <vt:lpstr>一、音訊匯入與準備</vt:lpstr>
      <vt:lpstr>二、.wav 在時域波形</vt:lpstr>
      <vt:lpstr>二、.wav 在時域波形</vt:lpstr>
      <vt:lpstr>三、.wav頻譜圖</vt:lpstr>
      <vt:lpstr>三、.wav頻譜圖</vt:lpstr>
      <vt:lpstr>四、漢寧窗</vt:lpstr>
      <vt:lpstr>四、漢寧窗</vt:lpstr>
      <vt:lpstr>四、強度對頻率圖</vt:lpstr>
      <vt:lpstr>四、強度對頻率圖</vt:lpstr>
      <vt:lpstr>五、電壓Histogram</vt:lpstr>
      <vt:lpstr>六、強度Histogram</vt:lpstr>
      <vt:lpstr>七、自相關函數</vt:lpstr>
      <vt:lpstr>七、自相關函數</vt:lpstr>
      <vt:lpstr>八、其餘的一些分析</vt:lpstr>
      <vt:lpstr>九、參考文獻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Signal Analysis</dc:title>
  <dc:creator>游　澈 (105501016)</dc:creator>
  <cp:lastModifiedBy>游　澈 (105501016)</cp:lastModifiedBy>
  <cp:revision>35</cp:revision>
  <dcterms:created xsi:type="dcterms:W3CDTF">2019-12-22T06:19:00Z</dcterms:created>
  <dcterms:modified xsi:type="dcterms:W3CDTF">2020-01-09T06:01:35Z</dcterms:modified>
</cp:coreProperties>
</file>